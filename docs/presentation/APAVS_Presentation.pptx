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9" r:id="rId6"/>
    <p:sldId id="262" r:id="rId7"/>
    <p:sldId id="266" r:id="rId8"/>
    <p:sldId id="263" r:id="rId9"/>
    <p:sldId id="264" r:id="rId10"/>
    <p:sldId id="26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B41C"/>
    <a:srgbClr val="328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F3937-2493-45FF-A625-375F73B084B2}" type="datetimeFigureOut">
              <a:rPr lang="en-IE" smtClean="0"/>
              <a:t>12/04/2026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3C81-39CE-4252-B0A3-40F87C0D978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196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EC9D-5AA0-2227-F5F3-6FE44C13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7ED65-3E16-7AE9-D0D2-FE0702025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7A98F-CD71-61F8-FE6B-DBE946F1A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48791-1B92-5828-39BB-D26BEA5AF5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77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B04FF-A8F9-BDB8-8A68-4F619A46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3F901-31A6-DBC1-2EF0-C4F27AA08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18A59-770E-E068-20E0-1B6E9E270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C7FAA-E6B6-68F6-52DA-CD186F415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84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6C5B-77D3-B081-DCB2-DE0BDDB6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0E02DB-05D9-9252-AE97-758009E8A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7602B-C207-0D70-74C7-94FF4898F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A5564-F023-167C-696C-7A8136556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39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7365-6283-B17A-BCD2-437C4D4C4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E941A-586C-F05B-E2C7-7EF705BBF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0988E-C3AF-22F5-8B59-543D317AC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C59A4-DD96-9CE9-DA25-7A6AEE106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93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2F73-C5D6-162A-CD88-F6FC0F76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931E0-F523-97DE-281B-B4CA49BDC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CDBB4-5901-6CC3-3159-B8E14CD8D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E12DE-3151-FF30-E68E-5EA01EF57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15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AD18A-D702-35F0-432F-36AD3CD4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7B0A0-12A0-3E2D-B140-ADF936D2C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47771-3442-F315-2EBC-5C90A2211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98EEB-AFCF-5C58-ECD6-54642C58D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46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6B44-B823-9B88-70AF-5B0A75DE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F9DC5-1268-1C2D-7903-6D950087C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9D9F6-6477-DB82-C0B3-44E5B4FA5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A78A2-9CB2-D97A-909F-88A689460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39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C5860-34A7-C879-A896-F48175D7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25B7C-9CBB-83BA-D3DD-6376974B0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4E2F57-B6F6-B630-5FBF-5EA901072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0B84A-5191-3292-0CC3-CB136E0D1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679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13F0-0468-7078-4AEE-E2BEFF44E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DEDDA-910C-4282-7ACD-F956A5519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84753-2DAB-898E-2DC0-8A393E233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A3F6A-2259-870E-A270-BB6549F6F1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05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91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04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6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3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9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4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50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776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492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793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9904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41662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21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02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140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01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31BA835-12AC-4E8F-955A-EA3F4DE2791F}" type="datetime1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166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/>
          <p:cNvSpPr/>
          <p:nvPr/>
        </p:nvSpPr>
        <p:spPr>
          <a:xfrm>
            <a:off x="975360" y="12192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kern="0" spc="5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APAVS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75360" y="2560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and Visualisation System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975360" y="3169920"/>
            <a:ext cx="1024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Load Port Qualification Data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75360" y="4145280"/>
            <a:ext cx="3048000" cy="487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7" name="Text 5"/>
          <p:cNvSpPr/>
          <p:nvPr/>
        </p:nvSpPr>
        <p:spPr>
          <a:xfrm>
            <a:off x="975360" y="4511040"/>
            <a:ext cx="975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Byrne  |  20108898</a:t>
            </a:r>
            <a:endParaRPr lang="en-US" sz="1867" dirty="0"/>
          </a:p>
          <a:p>
            <a:r>
              <a:rPr lang="en-US" sz="16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HDip Computer Science  |  SETU Waterford</a:t>
            </a:r>
            <a:endParaRPr lang="en-US" sz="1867" dirty="0"/>
          </a:p>
          <a:p>
            <a:r>
              <a:rPr lang="en-US" sz="16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Sonya Hogan</a:t>
            </a:r>
            <a:endParaRPr lang="en-US" sz="1867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47264425-CC36-9D9F-53F4-BAE5E59C5592}"/>
              </a:ext>
            </a:extLst>
          </p:cNvPr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CFAF40-0B10-52BA-01FE-4AEAD1BE2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0566" y="81906"/>
            <a:ext cx="3001434" cy="22618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/>
          <p:cNvSpPr/>
          <p:nvPr/>
        </p:nvSpPr>
        <p:spPr>
          <a:xfrm>
            <a:off x="975360" y="3657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1B2A4A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The Problem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75360" y="1584960"/>
            <a:ext cx="10241280" cy="79248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5" name="Shape 3"/>
          <p:cNvSpPr/>
          <p:nvPr/>
        </p:nvSpPr>
        <p:spPr>
          <a:xfrm>
            <a:off x="975360" y="1584960"/>
            <a:ext cx="73152" cy="792480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E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1731264"/>
            <a:ext cx="487680" cy="48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72640" y="1584960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export of FI log files from each tool individually</a:t>
            </a:r>
            <a:endParaRPr lang="en-US" sz="1867" dirty="0"/>
          </a:p>
        </p:txBody>
      </p:sp>
      <p:sp>
        <p:nvSpPr>
          <p:cNvPr id="8" name="Shape 5"/>
          <p:cNvSpPr/>
          <p:nvPr/>
        </p:nvSpPr>
        <p:spPr>
          <a:xfrm>
            <a:off x="975360" y="2535936"/>
            <a:ext cx="10241280" cy="79248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9" name="Shape 6"/>
          <p:cNvSpPr/>
          <p:nvPr/>
        </p:nvSpPr>
        <p:spPr>
          <a:xfrm>
            <a:off x="975360" y="2535936"/>
            <a:ext cx="73152" cy="792480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E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682240"/>
            <a:ext cx="487680" cy="487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2640" y="2535936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macro runs one tool at a time - no fleet visibility</a:t>
            </a:r>
            <a:endParaRPr lang="en-US" sz="1867" dirty="0"/>
          </a:p>
        </p:txBody>
      </p:sp>
      <p:sp>
        <p:nvSpPr>
          <p:cNvPr id="12" name="Shape 8"/>
          <p:cNvSpPr/>
          <p:nvPr/>
        </p:nvSpPr>
        <p:spPr>
          <a:xfrm>
            <a:off x="975360" y="3486912"/>
            <a:ext cx="10241280" cy="79248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13" name="Shape 9"/>
          <p:cNvSpPr/>
          <p:nvPr/>
        </p:nvSpPr>
        <p:spPr>
          <a:xfrm>
            <a:off x="975360" y="3486912"/>
            <a:ext cx="73152" cy="792480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E" sz="24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3633216"/>
            <a:ext cx="487680" cy="4876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72640" y="3486912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tracking or data persistence between sessions</a:t>
            </a:r>
            <a:endParaRPr lang="en-US" sz="1867" dirty="0"/>
          </a:p>
        </p:txBody>
      </p:sp>
      <p:sp>
        <p:nvSpPr>
          <p:cNvPr id="16" name="Shape 11"/>
          <p:cNvSpPr/>
          <p:nvPr/>
        </p:nvSpPr>
        <p:spPr>
          <a:xfrm>
            <a:off x="975360" y="4437888"/>
            <a:ext cx="10241280" cy="79248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17" name="Shape 12"/>
          <p:cNvSpPr/>
          <p:nvPr/>
        </p:nvSpPr>
        <p:spPr>
          <a:xfrm>
            <a:off x="975360" y="4437888"/>
            <a:ext cx="73152" cy="792480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E" sz="24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4584192"/>
            <a:ext cx="487680" cy="4876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072640" y="4437888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Classification of results – points are just plotted on a graph</a:t>
            </a:r>
            <a:endParaRPr lang="en-US" sz="1867" dirty="0"/>
          </a:p>
        </p:txBody>
      </p:sp>
      <p:sp>
        <p:nvSpPr>
          <p:cNvPr id="20" name="Shape 14"/>
          <p:cNvSpPr/>
          <p:nvPr/>
        </p:nvSpPr>
        <p:spPr>
          <a:xfrm>
            <a:off x="975360" y="5388864"/>
            <a:ext cx="10241280" cy="79248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21" name="Shape 15"/>
          <p:cNvSpPr/>
          <p:nvPr/>
        </p:nvSpPr>
        <p:spPr>
          <a:xfrm>
            <a:off x="975360" y="5388864"/>
            <a:ext cx="73152" cy="792480"/>
          </a:xfrm>
          <a:prstGeom prst="rect">
            <a:avLst/>
          </a:prstGeom>
          <a:solidFill>
            <a:srgbClr val="D13438"/>
          </a:solidFill>
          <a:ln/>
        </p:spPr>
        <p:txBody>
          <a:bodyPr/>
          <a:lstStyle/>
          <a:p>
            <a:endParaRPr lang="en-IE" sz="240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5535168"/>
            <a:ext cx="487680" cy="4876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72640" y="5388864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alerting features to notify of the trends are drifting </a:t>
            </a:r>
            <a:endParaRPr lang="en-US" sz="1867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96C20E82-4EF0-D689-7117-23214D02A4B6}"/>
              </a:ext>
            </a:extLst>
          </p:cNvPr>
          <p:cNvSpPr/>
          <p:nvPr/>
        </p:nvSpPr>
        <p:spPr>
          <a:xfrm>
            <a:off x="0" y="6821424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4DB724-A3F1-AB06-32FF-5F566058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55D0F1-BCDF-1D07-3B3C-41F8CFAFC6DB}"/>
              </a:ext>
            </a:extLst>
          </p:cNvPr>
          <p:cNvSpPr/>
          <p:nvPr/>
        </p:nvSpPr>
        <p:spPr>
          <a:xfrm>
            <a:off x="0" y="-1"/>
            <a:ext cx="12192000" cy="8451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594652-3BDB-A1D2-8652-6E4A5ED2A6B6}"/>
              </a:ext>
            </a:extLst>
          </p:cNvPr>
          <p:cNvSpPr/>
          <p:nvPr/>
        </p:nvSpPr>
        <p:spPr>
          <a:xfrm>
            <a:off x="975360" y="3657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1B2A4A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Current Manual Workflow</a:t>
            </a:r>
          </a:p>
          <a:p>
            <a:r>
              <a:rPr lang="en-US" sz="1200" b="1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Repeated for each tool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1C5326D4-B37C-5DA1-A476-FB0F81FED35C}"/>
              </a:ext>
            </a:extLst>
          </p:cNvPr>
          <p:cNvSpPr/>
          <p:nvPr/>
        </p:nvSpPr>
        <p:spPr>
          <a:xfrm>
            <a:off x="975360" y="2701636"/>
            <a:ext cx="155448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82052D9C-AF02-425B-121E-E8E6B5DB4A2F}"/>
              </a:ext>
            </a:extLst>
          </p:cNvPr>
          <p:cNvSpPr/>
          <p:nvPr/>
        </p:nvSpPr>
        <p:spPr>
          <a:xfrm>
            <a:off x="1066800" y="28387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 Logs</a:t>
            </a:r>
            <a:endParaRPr lang="en-US" sz="13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4F4D9F86-A5D1-F7C5-22B9-07DD4B847D8B}"/>
              </a:ext>
            </a:extLst>
          </p:cNvPr>
          <p:cNvSpPr/>
          <p:nvPr/>
        </p:nvSpPr>
        <p:spPr>
          <a:xfrm>
            <a:off x="1066800" y="34331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Millenium software</a:t>
            </a:r>
            <a:endParaRPr lang="en-US" sz="11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BFD6D803-6B7D-1846-A750-30A252BA9F97}"/>
              </a:ext>
            </a:extLst>
          </p:cNvPr>
          <p:cNvSpPr/>
          <p:nvPr/>
        </p:nvSpPr>
        <p:spPr>
          <a:xfrm>
            <a:off x="1422862" y="1924396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en-IE" sz="2400" dirty="0"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CCC342-3D4D-370D-5A2B-C7D78A38A7FC}"/>
              </a:ext>
            </a:extLst>
          </p:cNvPr>
          <p:cNvCxnSpPr>
            <a:cxnSpLocks/>
          </p:cNvCxnSpPr>
          <p:nvPr/>
        </p:nvCxnSpPr>
        <p:spPr>
          <a:xfrm>
            <a:off x="2529840" y="3524596"/>
            <a:ext cx="564342" cy="0"/>
          </a:xfrm>
          <a:prstGeom prst="straightConnector1">
            <a:avLst/>
          </a:prstGeom>
          <a:ln w="38100">
            <a:solidFill>
              <a:schemeClr val="bg2">
                <a:lumMod val="75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Shape 5">
            <a:extLst>
              <a:ext uri="{FF2B5EF4-FFF2-40B4-BE49-F238E27FC236}">
                <a16:creationId xmlns:a16="http://schemas.microsoft.com/office/drawing/2014/main" id="{5E0B75A8-9B96-3A32-183A-4FBA00D5AD20}"/>
              </a:ext>
            </a:extLst>
          </p:cNvPr>
          <p:cNvSpPr/>
          <p:nvPr/>
        </p:nvSpPr>
        <p:spPr>
          <a:xfrm>
            <a:off x="3094182" y="2701636"/>
            <a:ext cx="155448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79D7F1CD-3264-7394-13D9-FE78DCFAE655}"/>
              </a:ext>
            </a:extLst>
          </p:cNvPr>
          <p:cNvSpPr/>
          <p:nvPr/>
        </p:nvSpPr>
        <p:spPr>
          <a:xfrm>
            <a:off x="3185622" y="28387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Robot </a:t>
            </a:r>
            <a:b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3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06315B9A-8D9F-E3ED-0BF7-FCA3D2C6AD64}"/>
              </a:ext>
            </a:extLst>
          </p:cNvPr>
          <p:cNvSpPr/>
          <p:nvPr/>
        </p:nvSpPr>
        <p:spPr>
          <a:xfrm>
            <a:off x="3185622" y="34331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Idling of tool, </a:t>
            </a:r>
            <a:b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into maintenance mode</a:t>
            </a:r>
            <a:endParaRPr lang="en-US" sz="11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73DE5DB8-B0A8-78C9-D042-CADA7E1CA14D}"/>
              </a:ext>
            </a:extLst>
          </p:cNvPr>
          <p:cNvSpPr/>
          <p:nvPr/>
        </p:nvSpPr>
        <p:spPr>
          <a:xfrm>
            <a:off x="3541684" y="1924396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en-IE" sz="2400" dirty="0"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2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684E81-E574-6187-13EF-9AD9397DC6EE}"/>
              </a:ext>
            </a:extLst>
          </p:cNvPr>
          <p:cNvCxnSpPr>
            <a:cxnSpLocks/>
          </p:cNvCxnSpPr>
          <p:nvPr/>
        </p:nvCxnSpPr>
        <p:spPr>
          <a:xfrm>
            <a:off x="4648662" y="3524596"/>
            <a:ext cx="564342" cy="0"/>
          </a:xfrm>
          <a:prstGeom prst="straightConnector1">
            <a:avLst/>
          </a:prstGeom>
          <a:ln w="38100">
            <a:solidFill>
              <a:schemeClr val="bg2">
                <a:lumMod val="75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hape 5">
            <a:extLst>
              <a:ext uri="{FF2B5EF4-FFF2-40B4-BE49-F238E27FC236}">
                <a16:creationId xmlns:a16="http://schemas.microsoft.com/office/drawing/2014/main" id="{8F762812-A7CD-A146-DB57-E91FF4275B8C}"/>
              </a:ext>
            </a:extLst>
          </p:cNvPr>
          <p:cNvSpPr/>
          <p:nvPr/>
        </p:nvSpPr>
        <p:spPr>
          <a:xfrm>
            <a:off x="5213004" y="2701636"/>
            <a:ext cx="155448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B8CFD615-2390-7184-01C1-F65FE1195725}"/>
              </a:ext>
            </a:extLst>
          </p:cNvPr>
          <p:cNvSpPr/>
          <p:nvPr/>
        </p:nvSpPr>
        <p:spPr>
          <a:xfrm>
            <a:off x="5304444" y="28387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Excel Marco</a:t>
            </a:r>
            <a:endParaRPr lang="en-US" sz="13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B4BC4699-D6AF-D66C-AAA7-99F3EB631D98}"/>
              </a:ext>
            </a:extLst>
          </p:cNvPr>
          <p:cNvSpPr/>
          <p:nvPr/>
        </p:nvSpPr>
        <p:spPr>
          <a:xfrm>
            <a:off x="5304444" y="34331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Tool Network via Remote desktop</a:t>
            </a:r>
            <a:endParaRPr lang="en-US" sz="110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D5D813DB-5BDF-5909-F6FC-6A297FF305A2}"/>
              </a:ext>
            </a:extLst>
          </p:cNvPr>
          <p:cNvSpPr/>
          <p:nvPr/>
        </p:nvSpPr>
        <p:spPr>
          <a:xfrm>
            <a:off x="5660506" y="1924396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en-IE" sz="2400" dirty="0"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3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95FAFE0-FB44-3FA9-3257-5673EB80E9E6}"/>
              </a:ext>
            </a:extLst>
          </p:cNvPr>
          <p:cNvCxnSpPr>
            <a:cxnSpLocks/>
          </p:cNvCxnSpPr>
          <p:nvPr/>
        </p:nvCxnSpPr>
        <p:spPr>
          <a:xfrm>
            <a:off x="6767484" y="3524596"/>
            <a:ext cx="564342" cy="0"/>
          </a:xfrm>
          <a:prstGeom prst="straightConnector1">
            <a:avLst/>
          </a:prstGeom>
          <a:ln w="38100">
            <a:solidFill>
              <a:schemeClr val="bg2">
                <a:lumMod val="75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hape 5">
            <a:extLst>
              <a:ext uri="{FF2B5EF4-FFF2-40B4-BE49-F238E27FC236}">
                <a16:creationId xmlns:a16="http://schemas.microsoft.com/office/drawing/2014/main" id="{B5120C54-F9B8-B16D-B4C9-855699ABE4AD}"/>
              </a:ext>
            </a:extLst>
          </p:cNvPr>
          <p:cNvSpPr/>
          <p:nvPr/>
        </p:nvSpPr>
        <p:spPr>
          <a:xfrm>
            <a:off x="7331826" y="2701636"/>
            <a:ext cx="155448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103455B7-79C2-D53F-8171-F413D50C3A63}"/>
              </a:ext>
            </a:extLst>
          </p:cNvPr>
          <p:cNvSpPr/>
          <p:nvPr/>
        </p:nvSpPr>
        <p:spPr>
          <a:xfrm>
            <a:off x="7423266" y="28387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of graph</a:t>
            </a:r>
            <a:endParaRPr lang="en-US" sz="1300" dirty="0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895EA686-8D72-5CD8-10F1-4FABF58907BA}"/>
              </a:ext>
            </a:extLst>
          </p:cNvPr>
          <p:cNvSpPr/>
          <p:nvPr/>
        </p:nvSpPr>
        <p:spPr>
          <a:xfrm>
            <a:off x="7423266" y="34331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processes offset points without Classification</a:t>
            </a:r>
            <a:endParaRPr lang="en-US" sz="1100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F0BE55BF-36E0-FE25-7DB7-E50D13788AAA}"/>
              </a:ext>
            </a:extLst>
          </p:cNvPr>
          <p:cNvSpPr/>
          <p:nvPr/>
        </p:nvSpPr>
        <p:spPr>
          <a:xfrm>
            <a:off x="7779328" y="1924396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en-IE" sz="2400" dirty="0"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4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4A4B19E-3CCC-54D9-559C-FDBA5C98599D}"/>
              </a:ext>
            </a:extLst>
          </p:cNvPr>
          <p:cNvCxnSpPr>
            <a:cxnSpLocks/>
          </p:cNvCxnSpPr>
          <p:nvPr/>
        </p:nvCxnSpPr>
        <p:spPr>
          <a:xfrm>
            <a:off x="8886306" y="3524596"/>
            <a:ext cx="564342" cy="0"/>
          </a:xfrm>
          <a:prstGeom prst="straightConnector1">
            <a:avLst/>
          </a:prstGeom>
          <a:ln w="38100">
            <a:solidFill>
              <a:schemeClr val="bg2">
                <a:lumMod val="75000"/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Shape 5">
            <a:extLst>
              <a:ext uri="{FF2B5EF4-FFF2-40B4-BE49-F238E27FC236}">
                <a16:creationId xmlns:a16="http://schemas.microsoft.com/office/drawing/2014/main" id="{00999A67-69D3-FD38-1734-F616B3A62DD9}"/>
              </a:ext>
            </a:extLst>
          </p:cNvPr>
          <p:cNvSpPr/>
          <p:nvPr/>
        </p:nvSpPr>
        <p:spPr>
          <a:xfrm>
            <a:off x="9450648" y="2701636"/>
            <a:ext cx="155448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46B8AA55-056E-B251-24FC-6A7A696EE021}"/>
              </a:ext>
            </a:extLst>
          </p:cNvPr>
          <p:cNvSpPr/>
          <p:nvPr/>
        </p:nvSpPr>
        <p:spPr>
          <a:xfrm>
            <a:off x="9542088" y="28387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Review</a:t>
            </a:r>
            <a:endParaRPr lang="en-US" sz="13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C2FF4E98-B0A1-3B40-F33A-08828CF8D35A}"/>
              </a:ext>
            </a:extLst>
          </p:cNvPr>
          <p:cNvSpPr/>
          <p:nvPr/>
        </p:nvSpPr>
        <p:spPr>
          <a:xfrm>
            <a:off x="9542088" y="34331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reviews plots assigns a Pass/Fail</a:t>
            </a:r>
            <a:endParaRPr lang="en-US" sz="1100" dirty="0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67DB2540-03B0-651F-52A5-FC39FC69A659}"/>
              </a:ext>
            </a:extLst>
          </p:cNvPr>
          <p:cNvSpPr/>
          <p:nvPr/>
        </p:nvSpPr>
        <p:spPr>
          <a:xfrm>
            <a:off x="9898150" y="1924396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pPr algn="ctr"/>
            <a:r>
              <a:rPr lang="en-IE" sz="2400" dirty="0"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5</a:t>
            </a:r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EC0140B6-850A-FC93-0453-627C3CC92862}"/>
              </a:ext>
            </a:extLst>
          </p:cNvPr>
          <p:cNvSpPr/>
          <p:nvPr/>
        </p:nvSpPr>
        <p:spPr>
          <a:xfrm>
            <a:off x="819728" y="5364480"/>
            <a:ext cx="10241280" cy="792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FE1C1FD4-CB63-FC59-8DF3-1113327D7366}"/>
              </a:ext>
            </a:extLst>
          </p:cNvPr>
          <p:cNvSpPr/>
          <p:nvPr/>
        </p:nvSpPr>
        <p:spPr>
          <a:xfrm>
            <a:off x="819728" y="5364480"/>
            <a:ext cx="73152" cy="7924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20F60E31-6910-DAD7-B7D5-843EA0D0D64F}"/>
              </a:ext>
            </a:extLst>
          </p:cNvPr>
          <p:cNvSpPr/>
          <p:nvPr/>
        </p:nvSpPr>
        <p:spPr>
          <a:xfrm>
            <a:off x="1271386" y="5364480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can take 10/15 minutes </a:t>
            </a:r>
            <a:r>
              <a:rPr lang="en-US" sz="1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</a:t>
            </a:r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Once excel is closed the data is gone</a:t>
            </a:r>
            <a:endParaRPr lang="en-US" sz="1867" b="1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95AD792E-11B9-0815-8EED-4AC16AA7FF43}"/>
              </a:ext>
            </a:extLst>
          </p:cNvPr>
          <p:cNvSpPr/>
          <p:nvPr/>
        </p:nvSpPr>
        <p:spPr>
          <a:xfrm>
            <a:off x="0" y="6821424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</p:spTree>
    <p:extLst>
      <p:ext uri="{BB962C8B-B14F-4D97-AF65-F5344CB8AC3E}">
        <p14:creationId xmlns:p14="http://schemas.microsoft.com/office/powerpoint/2010/main" val="404367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585F2-A89D-3D10-C3DF-B337D364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6ED8A4-5EC9-E744-4E19-9DD6D949FED8}"/>
              </a:ext>
            </a:extLst>
          </p:cNvPr>
          <p:cNvSpPr/>
          <p:nvPr/>
        </p:nvSpPr>
        <p:spPr>
          <a:xfrm>
            <a:off x="0" y="-1"/>
            <a:ext cx="12192000" cy="8451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51709F-F2EA-27A1-F55F-BECF953CC12D}"/>
              </a:ext>
            </a:extLst>
          </p:cNvPr>
          <p:cNvSpPr/>
          <p:nvPr/>
        </p:nvSpPr>
        <p:spPr>
          <a:xfrm>
            <a:off x="975360" y="3657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1B2A4A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APAVS Solution</a:t>
            </a:r>
          </a:p>
          <a:p>
            <a:r>
              <a:rPr lang="en-US" sz="1200" b="1" dirty="0">
                <a:solidFill>
                  <a:srgbClr val="1B2A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commands to replace the existing workflow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4BFF14FC-E679-4C3D-762E-1B443B07771E}"/>
              </a:ext>
            </a:extLst>
          </p:cNvPr>
          <p:cNvSpPr/>
          <p:nvPr/>
        </p:nvSpPr>
        <p:spPr>
          <a:xfrm>
            <a:off x="819728" y="5364480"/>
            <a:ext cx="10241280" cy="7924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3324046E-EEE0-34E2-881D-4FD547A9072E}"/>
              </a:ext>
            </a:extLst>
          </p:cNvPr>
          <p:cNvSpPr/>
          <p:nvPr/>
        </p:nvSpPr>
        <p:spPr>
          <a:xfrm>
            <a:off x="819728" y="5364480"/>
            <a:ext cx="73152" cy="792480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A11D305F-9F31-F89F-0BEB-6D4F69FA5438}"/>
              </a:ext>
            </a:extLst>
          </p:cNvPr>
          <p:cNvSpPr/>
          <p:nvPr/>
        </p:nvSpPr>
        <p:spPr>
          <a:xfrm>
            <a:off x="1271386" y="5364480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fleet update in </a:t>
            </a:r>
            <a:r>
              <a:rPr lang="en-US" sz="1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 </a:t>
            </a:r>
            <a:r>
              <a:rPr lang="en-US" sz="1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</a:t>
            </a:r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process is complete   </a:t>
            </a:r>
            <a:endParaRPr lang="en-US" sz="1867" dirty="0"/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43AD6A35-73B1-79B3-C946-38812E0D9F48}"/>
              </a:ext>
            </a:extLst>
          </p:cNvPr>
          <p:cNvSpPr/>
          <p:nvPr/>
        </p:nvSpPr>
        <p:spPr>
          <a:xfrm>
            <a:off x="0" y="6821424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ADFC7A78-D739-8100-7C6B-143EAC7C2E2A}"/>
              </a:ext>
            </a:extLst>
          </p:cNvPr>
          <p:cNvSpPr/>
          <p:nvPr/>
        </p:nvSpPr>
        <p:spPr>
          <a:xfrm>
            <a:off x="566420" y="1952565"/>
            <a:ext cx="1878676" cy="295287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E47C240E-BED3-C928-71CE-F5F312DEFD3E}"/>
              </a:ext>
            </a:extLst>
          </p:cNvPr>
          <p:cNvSpPr/>
          <p:nvPr/>
        </p:nvSpPr>
        <p:spPr>
          <a:xfrm>
            <a:off x="657859" y="2734886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CSB Tool Fleet</a:t>
            </a:r>
            <a:endParaRPr lang="en-US" sz="1600" dirty="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748B5326-6747-AA84-4E3D-355C4F59F1D3}"/>
              </a:ext>
            </a:extLst>
          </p:cNvPr>
          <p:cNvSpPr/>
          <p:nvPr/>
        </p:nvSpPr>
        <p:spPr>
          <a:xfrm>
            <a:off x="657859" y="3490776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alpha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graphing of 11 tools (To be Expanded) </a:t>
            </a:r>
            <a:endParaRPr lang="en-US" sz="120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93" name="Shape 5">
            <a:extLst>
              <a:ext uri="{FF2B5EF4-FFF2-40B4-BE49-F238E27FC236}">
                <a16:creationId xmlns:a16="http://schemas.microsoft.com/office/drawing/2014/main" id="{4450597B-4237-D8BB-2F81-E32BE7E6B3EE}"/>
              </a:ext>
            </a:extLst>
          </p:cNvPr>
          <p:cNvSpPr/>
          <p:nvPr/>
        </p:nvSpPr>
        <p:spPr>
          <a:xfrm>
            <a:off x="2776220" y="1952565"/>
            <a:ext cx="1878676" cy="29528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75399AF3-3E0D-2A69-3005-4DE86292E372}"/>
              </a:ext>
            </a:extLst>
          </p:cNvPr>
          <p:cNvSpPr/>
          <p:nvPr/>
        </p:nvSpPr>
        <p:spPr>
          <a:xfrm>
            <a:off x="2867659" y="2734886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APAVS_Extact</a:t>
            </a:r>
            <a:endParaRPr lang="en-US" sz="1600" dirty="0"/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F1359CD6-DF22-2470-8544-AED301D0FA9C}"/>
              </a:ext>
            </a:extLst>
          </p:cNvPr>
          <p:cNvSpPr/>
          <p:nvPr/>
        </p:nvSpPr>
        <p:spPr>
          <a:xfrm>
            <a:off x="2867659" y="3490776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alpha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Script ran on Tool Network</a:t>
            </a:r>
            <a:endParaRPr lang="en-US" sz="120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96" name="Shape 5">
            <a:extLst>
              <a:ext uri="{FF2B5EF4-FFF2-40B4-BE49-F238E27FC236}">
                <a16:creationId xmlns:a16="http://schemas.microsoft.com/office/drawing/2014/main" id="{E5A38BF1-FA73-2015-F233-D321A7F99EBE}"/>
              </a:ext>
            </a:extLst>
          </p:cNvPr>
          <p:cNvSpPr/>
          <p:nvPr/>
        </p:nvSpPr>
        <p:spPr>
          <a:xfrm>
            <a:off x="4986020" y="1945266"/>
            <a:ext cx="1878676" cy="295287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BDBD8FAC-BB1D-4021-9CA6-32B8CD0FC41F}"/>
              </a:ext>
            </a:extLst>
          </p:cNvPr>
          <p:cNvSpPr/>
          <p:nvPr/>
        </p:nvSpPr>
        <p:spPr>
          <a:xfrm>
            <a:off x="5077459" y="2727587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CSV Via SMB</a:t>
            </a:r>
            <a:endParaRPr lang="en-US" sz="1600" dirty="0"/>
          </a:p>
        </p:txBody>
      </p:sp>
      <p:sp>
        <p:nvSpPr>
          <p:cNvPr id="98" name="Text 7">
            <a:extLst>
              <a:ext uri="{FF2B5EF4-FFF2-40B4-BE49-F238E27FC236}">
                <a16:creationId xmlns:a16="http://schemas.microsoft.com/office/drawing/2014/main" id="{0B7C7E96-9A8D-7A6E-15D6-52346AF5B734}"/>
              </a:ext>
            </a:extLst>
          </p:cNvPr>
          <p:cNvSpPr/>
          <p:nvPr/>
        </p:nvSpPr>
        <p:spPr>
          <a:xfrm>
            <a:off x="5077459" y="3483477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alpha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to Development laptop</a:t>
            </a:r>
            <a:endParaRPr lang="en-US" sz="120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99" name="Shape 5">
            <a:extLst>
              <a:ext uri="{FF2B5EF4-FFF2-40B4-BE49-F238E27FC236}">
                <a16:creationId xmlns:a16="http://schemas.microsoft.com/office/drawing/2014/main" id="{C9F33C2E-9D31-3DB0-1407-457771BE1889}"/>
              </a:ext>
            </a:extLst>
          </p:cNvPr>
          <p:cNvSpPr/>
          <p:nvPr/>
        </p:nvSpPr>
        <p:spPr>
          <a:xfrm>
            <a:off x="7195820" y="1952565"/>
            <a:ext cx="1878676" cy="295287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0" name="Text 6">
            <a:extLst>
              <a:ext uri="{FF2B5EF4-FFF2-40B4-BE49-F238E27FC236}">
                <a16:creationId xmlns:a16="http://schemas.microsoft.com/office/drawing/2014/main" id="{A41CB08C-48DB-E152-00C2-F036125A035C}"/>
              </a:ext>
            </a:extLst>
          </p:cNvPr>
          <p:cNvSpPr/>
          <p:nvPr/>
        </p:nvSpPr>
        <p:spPr>
          <a:xfrm>
            <a:off x="7287259" y="2734886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APAVS_Import</a:t>
            </a:r>
            <a:endParaRPr lang="en-US" sz="1600" dirty="0"/>
          </a:p>
        </p:txBody>
      </p:sp>
      <p:sp>
        <p:nvSpPr>
          <p:cNvPr id="101" name="Text 7">
            <a:extLst>
              <a:ext uri="{FF2B5EF4-FFF2-40B4-BE49-F238E27FC236}">
                <a16:creationId xmlns:a16="http://schemas.microsoft.com/office/drawing/2014/main" id="{5C059C45-1FAD-49BB-0ED8-B92ACF308E63}"/>
              </a:ext>
            </a:extLst>
          </p:cNvPr>
          <p:cNvSpPr/>
          <p:nvPr/>
        </p:nvSpPr>
        <p:spPr>
          <a:xfrm>
            <a:off x="7287259" y="3490776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alpha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then transferred onto the database</a:t>
            </a:r>
            <a:endParaRPr lang="en-US" sz="120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02" name="Shape 5">
            <a:extLst>
              <a:ext uri="{FF2B5EF4-FFF2-40B4-BE49-F238E27FC236}">
                <a16:creationId xmlns:a16="http://schemas.microsoft.com/office/drawing/2014/main" id="{74DC90F2-B14C-1D33-D29F-35B31E05C39C}"/>
              </a:ext>
            </a:extLst>
          </p:cNvPr>
          <p:cNvSpPr/>
          <p:nvPr/>
        </p:nvSpPr>
        <p:spPr>
          <a:xfrm>
            <a:off x="9410932" y="1952565"/>
            <a:ext cx="1878676" cy="295287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3" name="Text 6">
            <a:extLst>
              <a:ext uri="{FF2B5EF4-FFF2-40B4-BE49-F238E27FC236}">
                <a16:creationId xmlns:a16="http://schemas.microsoft.com/office/drawing/2014/main" id="{52453716-7671-0CB0-FF1A-68AF7C4AC72B}"/>
              </a:ext>
            </a:extLst>
          </p:cNvPr>
          <p:cNvSpPr/>
          <p:nvPr/>
        </p:nvSpPr>
        <p:spPr>
          <a:xfrm>
            <a:off x="9502371" y="2734886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04" name="Text 7">
            <a:extLst>
              <a:ext uri="{FF2B5EF4-FFF2-40B4-BE49-F238E27FC236}">
                <a16:creationId xmlns:a16="http://schemas.microsoft.com/office/drawing/2014/main" id="{FD454A3D-1607-5F54-55D1-B4E401D25D36}"/>
              </a:ext>
            </a:extLst>
          </p:cNvPr>
          <p:cNvSpPr/>
          <p:nvPr/>
        </p:nvSpPr>
        <p:spPr>
          <a:xfrm>
            <a:off x="9502371" y="3490776"/>
            <a:ext cx="1657655" cy="98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alpha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 &amp; Tool Detail</a:t>
            </a:r>
            <a:endParaRPr lang="en-US" sz="120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05" name="Arrow: Right 104">
            <a:extLst>
              <a:ext uri="{FF2B5EF4-FFF2-40B4-BE49-F238E27FC236}">
                <a16:creationId xmlns:a16="http://schemas.microsoft.com/office/drawing/2014/main" id="{68569CBD-964D-32DE-C77A-2392CAED330D}"/>
              </a:ext>
            </a:extLst>
          </p:cNvPr>
          <p:cNvSpPr/>
          <p:nvPr/>
        </p:nvSpPr>
        <p:spPr>
          <a:xfrm>
            <a:off x="2445096" y="3429000"/>
            <a:ext cx="33112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4BAFBBF6-2279-2DF7-FCBF-BFBD5BE64999}"/>
              </a:ext>
            </a:extLst>
          </p:cNvPr>
          <p:cNvSpPr/>
          <p:nvPr/>
        </p:nvSpPr>
        <p:spPr>
          <a:xfrm>
            <a:off x="4657552" y="3445057"/>
            <a:ext cx="33112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1D3D7525-0367-B679-E725-4A6F50FB6227}"/>
              </a:ext>
            </a:extLst>
          </p:cNvPr>
          <p:cNvSpPr/>
          <p:nvPr/>
        </p:nvSpPr>
        <p:spPr>
          <a:xfrm>
            <a:off x="6859384" y="3462478"/>
            <a:ext cx="33112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BE6D0AA4-1EB3-5B87-4BF8-A7A9223FE777}"/>
              </a:ext>
            </a:extLst>
          </p:cNvPr>
          <p:cNvSpPr/>
          <p:nvPr/>
        </p:nvSpPr>
        <p:spPr>
          <a:xfrm>
            <a:off x="9076069" y="3451859"/>
            <a:ext cx="33112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3" name="Image 0" descr="preencoded.png">
            <a:extLst>
              <a:ext uri="{FF2B5EF4-FFF2-40B4-BE49-F238E27FC236}">
                <a16:creationId xmlns:a16="http://schemas.microsoft.com/office/drawing/2014/main" id="{9B4C20E0-32AF-9F70-8D5A-9CDD490F0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213" y="2408262"/>
            <a:ext cx="544945" cy="544945"/>
          </a:xfrm>
          <a:prstGeom prst="rect">
            <a:avLst/>
          </a:prstGeom>
          <a:noFill/>
        </p:spPr>
      </p:pic>
      <p:pic>
        <p:nvPicPr>
          <p:cNvPr id="84" name="Image 1" descr="preencoded.png">
            <a:extLst>
              <a:ext uri="{FF2B5EF4-FFF2-40B4-BE49-F238E27FC236}">
                <a16:creationId xmlns:a16="http://schemas.microsoft.com/office/drawing/2014/main" id="{7C4258DD-82EA-F880-AAFD-431F27DCE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958" y="2316823"/>
            <a:ext cx="592512" cy="592512"/>
          </a:xfrm>
          <a:prstGeom prst="rect">
            <a:avLst/>
          </a:prstGeom>
          <a:noFill/>
        </p:spPr>
      </p:pic>
      <p:pic>
        <p:nvPicPr>
          <p:cNvPr id="85" name="Image 2" descr="preencoded.png">
            <a:extLst>
              <a:ext uri="{FF2B5EF4-FFF2-40B4-BE49-F238E27FC236}">
                <a16:creationId xmlns:a16="http://schemas.microsoft.com/office/drawing/2014/main" id="{1492CD1B-3F13-8C43-8FD8-7D58C0E41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2656" y="2330133"/>
            <a:ext cx="592512" cy="592512"/>
          </a:xfrm>
          <a:prstGeom prst="rect">
            <a:avLst/>
          </a:prstGeom>
          <a:noFill/>
        </p:spPr>
      </p:pic>
      <p:pic>
        <p:nvPicPr>
          <p:cNvPr id="86" name="Image 3" descr="preencoded.png">
            <a:extLst>
              <a:ext uri="{FF2B5EF4-FFF2-40B4-BE49-F238E27FC236}">
                <a16:creationId xmlns:a16="http://schemas.microsoft.com/office/drawing/2014/main" id="{8A1B2AC1-A07B-1F60-72A3-0D2FFFA2B1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214" y="2316823"/>
            <a:ext cx="592512" cy="592512"/>
          </a:xfrm>
          <a:prstGeom prst="rect">
            <a:avLst/>
          </a:prstGeom>
          <a:noFill/>
        </p:spPr>
      </p:pic>
      <p:pic>
        <p:nvPicPr>
          <p:cNvPr id="87" name="Image 4" descr="preencoded.png">
            <a:extLst>
              <a:ext uri="{FF2B5EF4-FFF2-40B4-BE49-F238E27FC236}">
                <a16:creationId xmlns:a16="http://schemas.microsoft.com/office/drawing/2014/main" id="{09E8B0F1-37D4-3EB6-48C9-7B94EFABC1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1670" y="2337432"/>
            <a:ext cx="592512" cy="5925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0649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A8A4B-3442-CACE-03F9-B02A445A2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9A5C95-F220-B960-A71D-3F90F48BB1C1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7602890-D9E7-CDB6-902F-D45E3A11D00F}"/>
              </a:ext>
            </a:extLst>
          </p:cNvPr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07DC90B7-45E2-7531-A669-E3EC83C81E1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282BF1B-B959-0032-4D98-6156517CA0BA}"/>
              </a:ext>
            </a:extLst>
          </p:cNvPr>
          <p:cNvSpPr/>
          <p:nvPr/>
        </p:nvSpPr>
        <p:spPr>
          <a:xfrm>
            <a:off x="2438400" y="1437894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C0DF8F3-6965-3BD8-03B8-8213A30D503D}"/>
              </a:ext>
            </a:extLst>
          </p:cNvPr>
          <p:cNvSpPr/>
          <p:nvPr/>
        </p:nvSpPr>
        <p:spPr>
          <a:xfrm>
            <a:off x="4470400" y="2321814"/>
            <a:ext cx="3149600" cy="60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8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1670DA9-008C-2903-8FD6-875F1288AA68}"/>
              </a:ext>
            </a:extLst>
          </p:cNvPr>
          <p:cNvSpPr/>
          <p:nvPr/>
        </p:nvSpPr>
        <p:spPr>
          <a:xfrm>
            <a:off x="2927350" y="4075938"/>
            <a:ext cx="6337300" cy="1805940"/>
          </a:xfrm>
          <a:prstGeom prst="rect">
            <a:avLst/>
          </a:prstGeom>
          <a:solidFill>
            <a:srgbClr val="2D4A7A">
              <a:alpha val="77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60FFB29-20C5-E5CD-D4DA-2ED1E936A101}"/>
              </a:ext>
            </a:extLst>
          </p:cNvPr>
          <p:cNvSpPr/>
          <p:nvPr/>
        </p:nvSpPr>
        <p:spPr>
          <a:xfrm>
            <a:off x="2823029" y="4106418"/>
            <a:ext cx="633730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APAVS Walk through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Extraction</a:t>
            </a:r>
            <a:b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Import</a:t>
            </a:r>
            <a:b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Fleet Overview</a:t>
            </a:r>
            <a:b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4.Tool Detail</a:t>
            </a:r>
            <a:endParaRPr lang="en-US" sz="20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2281C78-4A8D-8FA0-38F2-1DFEADAC0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358" y="2437362"/>
            <a:ext cx="1207284" cy="12072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487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E7063-9E0B-9257-78EE-8BDB08975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829AED-F946-6FAA-7C59-08145D9A3354}"/>
              </a:ext>
            </a:extLst>
          </p:cNvPr>
          <p:cNvSpPr/>
          <p:nvPr/>
        </p:nvSpPr>
        <p:spPr>
          <a:xfrm>
            <a:off x="0" y="-1"/>
            <a:ext cx="12192000" cy="8451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789A9B-7EEB-FFAA-6AD4-2877D9DB1D4F}"/>
              </a:ext>
            </a:extLst>
          </p:cNvPr>
          <p:cNvSpPr/>
          <p:nvPr/>
        </p:nvSpPr>
        <p:spPr>
          <a:xfrm>
            <a:off x="668898" y="3657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dirty="0">
                <a:solidFill>
                  <a:srgbClr val="1B2A4A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Key Discovery: Sensor Fail Misclassification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6D958D81-1047-BE13-31E7-17E730DD2881}"/>
              </a:ext>
            </a:extLst>
          </p:cNvPr>
          <p:cNvSpPr/>
          <p:nvPr/>
        </p:nvSpPr>
        <p:spPr>
          <a:xfrm>
            <a:off x="0" y="6821424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68" name="Shape 2">
            <a:extLst>
              <a:ext uri="{FF2B5EF4-FFF2-40B4-BE49-F238E27FC236}">
                <a16:creationId xmlns:a16="http://schemas.microsoft.com/office/drawing/2014/main" id="{2F107381-96FF-A7AA-3FD2-FD3D8263A8FD}"/>
              </a:ext>
            </a:extLst>
          </p:cNvPr>
          <p:cNvSpPr/>
          <p:nvPr/>
        </p:nvSpPr>
        <p:spPr>
          <a:xfrm>
            <a:off x="753687" y="1569390"/>
            <a:ext cx="5028276" cy="4078224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n-US" sz="2400" b="1" dirty="0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A7C8259C-145A-ECD1-FE9D-7E6E823A5AEA}"/>
              </a:ext>
            </a:extLst>
          </p:cNvPr>
          <p:cNvSpPr/>
          <p:nvPr/>
        </p:nvSpPr>
        <p:spPr>
          <a:xfrm>
            <a:off x="753687" y="1584960"/>
            <a:ext cx="5028276" cy="792480"/>
          </a:xfrm>
          <a:prstGeom prst="rect">
            <a:avLst/>
          </a:prstGeom>
          <a:solidFill>
            <a:srgbClr val="C00000">
              <a:alpha val="88000"/>
            </a:srgb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8DF5350B-29C6-409C-9B0C-6E8D72D7590B}"/>
              </a:ext>
            </a:extLst>
          </p:cNvPr>
          <p:cNvSpPr/>
          <p:nvPr/>
        </p:nvSpPr>
        <p:spPr>
          <a:xfrm>
            <a:off x="1791116" y="155448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Before (Two-Tier)</a:t>
            </a:r>
            <a:endParaRPr lang="en-US" sz="2800" b="1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06964F6-3CA7-2B1A-92F3-28CDDE163824}"/>
              </a:ext>
            </a:extLst>
          </p:cNvPr>
          <p:cNvSpPr/>
          <p:nvPr/>
        </p:nvSpPr>
        <p:spPr>
          <a:xfrm>
            <a:off x="668898" y="237678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CSB201 Results:</a:t>
            </a:r>
            <a:endParaRPr lang="en-US" sz="2400" b="1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61DCB0E-C8B7-9080-9DB2-54456870517B}"/>
              </a:ext>
            </a:extLst>
          </p:cNvPr>
          <p:cNvSpPr/>
          <p:nvPr/>
        </p:nvSpPr>
        <p:spPr>
          <a:xfrm>
            <a:off x="668898" y="315435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B4B006-74BC-4C5B-7566-B2D2860EA11C}"/>
              </a:ext>
            </a:extLst>
          </p:cNvPr>
          <p:cNvSpPr/>
          <p:nvPr/>
        </p:nvSpPr>
        <p:spPr>
          <a:xfrm>
            <a:off x="668898" y="352011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A83FE8-8388-4C75-9BA0-AF1F464BE350}"/>
              </a:ext>
            </a:extLst>
          </p:cNvPr>
          <p:cNvSpPr/>
          <p:nvPr/>
        </p:nvSpPr>
        <p:spPr>
          <a:xfrm>
            <a:off x="668898" y="388587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4A49C99-D772-D5EF-FF1B-9BC082D41E63}"/>
              </a:ext>
            </a:extLst>
          </p:cNvPr>
          <p:cNvSpPr/>
          <p:nvPr/>
        </p:nvSpPr>
        <p:spPr>
          <a:xfrm>
            <a:off x="3144613" y="315435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5339F0E-348F-C748-18F2-A0A5C7E433A6}"/>
              </a:ext>
            </a:extLst>
          </p:cNvPr>
          <p:cNvSpPr/>
          <p:nvPr/>
        </p:nvSpPr>
        <p:spPr>
          <a:xfrm>
            <a:off x="3144613" y="352011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E304A007-7BE7-C4C8-CAB2-7E8EE154AD85}"/>
              </a:ext>
            </a:extLst>
          </p:cNvPr>
          <p:cNvSpPr/>
          <p:nvPr/>
        </p:nvSpPr>
        <p:spPr>
          <a:xfrm>
            <a:off x="6410037" y="1569390"/>
            <a:ext cx="5028276" cy="4078224"/>
          </a:xfrm>
          <a:prstGeom prst="rect">
            <a:avLst/>
          </a:prstGeom>
          <a:solidFill>
            <a:schemeClr val="accent4">
              <a:lumMod val="40000"/>
              <a:lumOff val="6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n-US" sz="2400" b="1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F0190B6-DA6B-33B2-A4A7-EE366D3927C7}"/>
              </a:ext>
            </a:extLst>
          </p:cNvPr>
          <p:cNvSpPr/>
          <p:nvPr/>
        </p:nvSpPr>
        <p:spPr>
          <a:xfrm>
            <a:off x="6410037" y="1584960"/>
            <a:ext cx="5028276" cy="792480"/>
          </a:xfrm>
          <a:prstGeom prst="rect">
            <a:avLst/>
          </a:prstGeom>
          <a:solidFill>
            <a:srgbClr val="08B41C">
              <a:alpha val="87451"/>
            </a:srgb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10D05896-FDA0-61A5-5071-FF167BB6F685}"/>
              </a:ext>
            </a:extLst>
          </p:cNvPr>
          <p:cNvSpPr/>
          <p:nvPr/>
        </p:nvSpPr>
        <p:spPr>
          <a:xfrm>
            <a:off x="7447466" y="155448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After (Three-Tier)</a:t>
            </a:r>
            <a:endParaRPr lang="en-US" sz="2800" b="1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C63D8BC6-7475-D9D1-3CBB-9A721AF34F75}"/>
              </a:ext>
            </a:extLst>
          </p:cNvPr>
          <p:cNvSpPr/>
          <p:nvPr/>
        </p:nvSpPr>
        <p:spPr>
          <a:xfrm>
            <a:off x="6252003" y="236187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CSB201 Results:</a:t>
            </a:r>
            <a:endParaRPr lang="en-US" sz="2400" b="1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708ED41-F922-B3E9-FA49-39842BF884FA}"/>
              </a:ext>
            </a:extLst>
          </p:cNvPr>
          <p:cNvSpPr/>
          <p:nvPr/>
        </p:nvSpPr>
        <p:spPr>
          <a:xfrm>
            <a:off x="6118720" y="2928239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A5FDB543-3450-9F4E-A3E7-8A40F5C37DDF}"/>
              </a:ext>
            </a:extLst>
          </p:cNvPr>
          <p:cNvSpPr/>
          <p:nvPr/>
        </p:nvSpPr>
        <p:spPr>
          <a:xfrm>
            <a:off x="6118720" y="3293999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5BFBE2E2-3307-79F7-D058-373D06516BC4}"/>
              </a:ext>
            </a:extLst>
          </p:cNvPr>
          <p:cNvSpPr/>
          <p:nvPr/>
        </p:nvSpPr>
        <p:spPr>
          <a:xfrm>
            <a:off x="6118720" y="3659759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INCOMPLETE: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F30A3E9D-BDF7-549F-8130-798D406A9BAA}"/>
              </a:ext>
            </a:extLst>
          </p:cNvPr>
          <p:cNvSpPr/>
          <p:nvPr/>
        </p:nvSpPr>
        <p:spPr>
          <a:xfrm>
            <a:off x="8800963" y="2912669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59743021-E07D-B95C-9D7F-62C3DC528741}"/>
              </a:ext>
            </a:extLst>
          </p:cNvPr>
          <p:cNvSpPr/>
          <p:nvPr/>
        </p:nvSpPr>
        <p:spPr>
          <a:xfrm>
            <a:off x="8800963" y="3278429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7D41379A-9F70-D995-37DA-D43B3931736B}"/>
              </a:ext>
            </a:extLst>
          </p:cNvPr>
          <p:cNvSpPr/>
          <p:nvPr/>
        </p:nvSpPr>
        <p:spPr>
          <a:xfrm>
            <a:off x="8800963" y="3644189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69C7CF7-CAEC-051D-A770-DD4F5784A6C0}"/>
              </a:ext>
            </a:extLst>
          </p:cNvPr>
          <p:cNvSpPr/>
          <p:nvPr/>
        </p:nvSpPr>
        <p:spPr>
          <a:xfrm>
            <a:off x="5866752" y="3477438"/>
            <a:ext cx="488788" cy="17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C630EABA-0185-E9C1-CD18-6571EA747887}"/>
              </a:ext>
            </a:extLst>
          </p:cNvPr>
          <p:cNvSpPr/>
          <p:nvPr/>
        </p:nvSpPr>
        <p:spPr>
          <a:xfrm>
            <a:off x="776407" y="4561167"/>
            <a:ext cx="5028276" cy="193053"/>
          </a:xfrm>
          <a:prstGeom prst="rect">
            <a:avLst/>
          </a:prstGeom>
          <a:solidFill>
            <a:srgbClr val="C00000">
              <a:alpha val="88000"/>
            </a:srgb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034336C5-9A42-BD4D-FA0D-73025A85ADAD}"/>
              </a:ext>
            </a:extLst>
          </p:cNvPr>
          <p:cNvSpPr/>
          <p:nvPr/>
        </p:nvSpPr>
        <p:spPr>
          <a:xfrm>
            <a:off x="6397659" y="4583862"/>
            <a:ext cx="5028276" cy="170358"/>
          </a:xfrm>
          <a:prstGeom prst="rect">
            <a:avLst/>
          </a:prstGeom>
          <a:solidFill>
            <a:srgbClr val="08B41C">
              <a:alpha val="87451"/>
            </a:srgb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39C0BC-8FD6-5970-7444-501B16D0949C}"/>
              </a:ext>
            </a:extLst>
          </p:cNvPr>
          <p:cNvSpPr txBox="1"/>
          <p:nvPr/>
        </p:nvSpPr>
        <p:spPr>
          <a:xfrm>
            <a:off x="89686" y="5007010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Failure rate recorded </a:t>
            </a:r>
            <a:endParaRPr lang="en-US" sz="1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CA49B8-D12C-29E1-60D4-5639CA5F2093}"/>
              </a:ext>
            </a:extLst>
          </p:cNvPr>
          <p:cNvSpPr txBox="1"/>
          <p:nvPr/>
        </p:nvSpPr>
        <p:spPr>
          <a:xfrm>
            <a:off x="5904070" y="5003038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 Genuine failure rate recorded </a:t>
            </a:r>
            <a:endParaRPr lang="en-US" sz="1800" b="1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5ECAE866-CB03-82B9-2E0B-67A4FD87967C}"/>
              </a:ext>
            </a:extLst>
          </p:cNvPr>
          <p:cNvSpPr/>
          <p:nvPr/>
        </p:nvSpPr>
        <p:spPr>
          <a:xfrm>
            <a:off x="975360" y="5955132"/>
            <a:ext cx="10241280" cy="499872"/>
          </a:xfrm>
          <a:prstGeom prst="rect">
            <a:avLst/>
          </a:prstGeom>
          <a:solidFill>
            <a:srgbClr val="FFC000">
              <a:alpha val="10000"/>
            </a:srgb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ABA71B27-CE2F-B433-0E6B-BC18B63C27CE}"/>
              </a:ext>
            </a:extLst>
          </p:cNvPr>
          <p:cNvSpPr/>
          <p:nvPr/>
        </p:nvSpPr>
        <p:spPr>
          <a:xfrm>
            <a:off x="3169920" y="5841102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MeasuredZ = 0.00 reading reclassified as </a:t>
            </a:r>
            <a:r>
              <a:rPr lang="en-US" sz="18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867" b="1" dirty="0"/>
          </a:p>
        </p:txBody>
      </p:sp>
    </p:spTree>
    <p:extLst>
      <p:ext uri="{BB962C8B-B14F-4D97-AF65-F5344CB8AC3E}">
        <p14:creationId xmlns:p14="http://schemas.microsoft.com/office/powerpoint/2010/main" val="249367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1AF52-885A-8D27-115B-E6401A64E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C5D7C9A-A69B-BECB-48FA-B06EEC8DB988}"/>
              </a:ext>
            </a:extLst>
          </p:cNvPr>
          <p:cNvSpPr/>
          <p:nvPr/>
        </p:nvSpPr>
        <p:spPr>
          <a:xfrm>
            <a:off x="0" y="-1"/>
            <a:ext cx="12192000" cy="8451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8D1901-962C-75D6-7FF4-DE3E086C1BBC}"/>
              </a:ext>
            </a:extLst>
          </p:cNvPr>
          <p:cNvSpPr/>
          <p:nvPr/>
        </p:nvSpPr>
        <p:spPr>
          <a:xfrm>
            <a:off x="668898" y="3657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dirty="0">
                <a:solidFill>
                  <a:srgbClr val="1B2A4A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Key Discovery: Temporal Offset 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6FA2204D-35CC-7C1F-44C3-9BF56F2800BA}"/>
              </a:ext>
            </a:extLst>
          </p:cNvPr>
          <p:cNvSpPr/>
          <p:nvPr/>
        </p:nvSpPr>
        <p:spPr>
          <a:xfrm>
            <a:off x="0" y="6821424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68" name="Shape 2">
            <a:extLst>
              <a:ext uri="{FF2B5EF4-FFF2-40B4-BE49-F238E27FC236}">
                <a16:creationId xmlns:a16="http://schemas.microsoft.com/office/drawing/2014/main" id="{091095B2-DF88-7338-32C5-701116C43360}"/>
              </a:ext>
            </a:extLst>
          </p:cNvPr>
          <p:cNvSpPr/>
          <p:nvPr/>
        </p:nvSpPr>
        <p:spPr>
          <a:xfrm>
            <a:off x="753687" y="1229940"/>
            <a:ext cx="5028276" cy="170903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n-US" sz="2400" b="1" dirty="0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752B7C0F-E2AA-D3A8-A467-B74B93088AE7}"/>
              </a:ext>
            </a:extLst>
          </p:cNvPr>
          <p:cNvSpPr/>
          <p:nvPr/>
        </p:nvSpPr>
        <p:spPr>
          <a:xfrm>
            <a:off x="753687" y="1245510"/>
            <a:ext cx="5028276" cy="792480"/>
          </a:xfrm>
          <a:prstGeom prst="rect">
            <a:avLst/>
          </a:prstGeom>
          <a:solidFill>
            <a:srgbClr val="C00000">
              <a:alpha val="88000"/>
            </a:srgb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76BF280B-CC51-E6F8-666F-322445F56319}"/>
              </a:ext>
            </a:extLst>
          </p:cNvPr>
          <p:cNvSpPr/>
          <p:nvPr/>
        </p:nvSpPr>
        <p:spPr>
          <a:xfrm>
            <a:off x="1791116" y="121503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b="1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3EC0944-69E6-193B-1479-CD4BFEA42C18}"/>
              </a:ext>
            </a:extLst>
          </p:cNvPr>
          <p:cNvSpPr/>
          <p:nvPr/>
        </p:nvSpPr>
        <p:spPr>
          <a:xfrm>
            <a:off x="668898" y="203733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D57B2E1-B22B-9840-7CC1-50E3822EA824}"/>
              </a:ext>
            </a:extLst>
          </p:cNvPr>
          <p:cNvSpPr/>
          <p:nvPr/>
        </p:nvSpPr>
        <p:spPr>
          <a:xfrm>
            <a:off x="668898" y="315435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9752CA-6522-7D43-818C-80BFB8A3D78B}"/>
              </a:ext>
            </a:extLst>
          </p:cNvPr>
          <p:cNvSpPr/>
          <p:nvPr/>
        </p:nvSpPr>
        <p:spPr>
          <a:xfrm>
            <a:off x="668898" y="352011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E5C57B7-3146-BBCD-8E35-5A3E749806C9}"/>
              </a:ext>
            </a:extLst>
          </p:cNvPr>
          <p:cNvSpPr/>
          <p:nvPr/>
        </p:nvSpPr>
        <p:spPr>
          <a:xfrm>
            <a:off x="668898" y="388587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ABA3CD1-146D-692B-5947-5C6A635EF0F4}"/>
              </a:ext>
            </a:extLst>
          </p:cNvPr>
          <p:cNvSpPr/>
          <p:nvPr/>
        </p:nvSpPr>
        <p:spPr>
          <a:xfrm>
            <a:off x="3144613" y="315435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5345195-DCF1-AD4A-93FE-9E974BF87BEC}"/>
              </a:ext>
            </a:extLst>
          </p:cNvPr>
          <p:cNvSpPr/>
          <p:nvPr/>
        </p:nvSpPr>
        <p:spPr>
          <a:xfrm>
            <a:off x="3144613" y="352011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075F3972-B020-9068-6719-FA5A85143EF0}"/>
              </a:ext>
            </a:extLst>
          </p:cNvPr>
          <p:cNvSpPr/>
          <p:nvPr/>
        </p:nvSpPr>
        <p:spPr>
          <a:xfrm>
            <a:off x="6410037" y="1229940"/>
            <a:ext cx="5028276" cy="1709039"/>
          </a:xfrm>
          <a:prstGeom prst="rect">
            <a:avLst/>
          </a:prstGeom>
          <a:solidFill>
            <a:schemeClr val="accent4">
              <a:lumMod val="40000"/>
              <a:lumOff val="6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pPr algn="ctr"/>
            <a:endParaRPr lang="en-US" sz="2400" b="1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91A845E2-F5CD-404B-661B-F95189ED421B}"/>
              </a:ext>
            </a:extLst>
          </p:cNvPr>
          <p:cNvSpPr/>
          <p:nvPr/>
        </p:nvSpPr>
        <p:spPr>
          <a:xfrm>
            <a:off x="6410037" y="1245510"/>
            <a:ext cx="5028276" cy="792480"/>
          </a:xfrm>
          <a:prstGeom prst="rect">
            <a:avLst/>
          </a:prstGeom>
          <a:solidFill>
            <a:srgbClr val="08B41C">
              <a:alpha val="87451"/>
            </a:srgb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D02FBF3-957C-F33C-E52A-45E138F7C8F2}"/>
              </a:ext>
            </a:extLst>
          </p:cNvPr>
          <p:cNvSpPr/>
          <p:nvPr/>
        </p:nvSpPr>
        <p:spPr>
          <a:xfrm>
            <a:off x="7447466" y="121503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After (Three-Tier)</a:t>
            </a:r>
            <a:endParaRPr lang="en-US" sz="2800" b="1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3E5BCF3-E4D8-D6CD-CD6A-B834643411E4}"/>
              </a:ext>
            </a:extLst>
          </p:cNvPr>
          <p:cNvSpPr/>
          <p:nvPr/>
        </p:nvSpPr>
        <p:spPr>
          <a:xfrm>
            <a:off x="6252003" y="2022420"/>
            <a:ext cx="270699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400" b="1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58104F5-E50D-07C1-7F64-EBCC126524FA}"/>
              </a:ext>
            </a:extLst>
          </p:cNvPr>
          <p:cNvSpPr/>
          <p:nvPr/>
        </p:nvSpPr>
        <p:spPr>
          <a:xfrm>
            <a:off x="5842232" y="1941483"/>
            <a:ext cx="488788" cy="177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F4AAD94-BB5A-EDB1-61D4-0D9F30F417D7}"/>
              </a:ext>
            </a:extLst>
          </p:cNvPr>
          <p:cNvSpPr/>
          <p:nvPr/>
        </p:nvSpPr>
        <p:spPr>
          <a:xfrm>
            <a:off x="1013044" y="1874190"/>
            <a:ext cx="465351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CSB231: 721 of 738 runs classified FAIL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config only stores the current TaughtZ — historical runs compared to wrong reference</a:t>
            </a:r>
            <a:endParaRPr lang="en-US" sz="16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D6C7060C-06DF-17E8-DCA9-70873BD645C3}"/>
              </a:ext>
            </a:extLst>
          </p:cNvPr>
          <p:cNvSpPr/>
          <p:nvPr/>
        </p:nvSpPr>
        <p:spPr>
          <a:xfrm>
            <a:off x="6740791" y="1874190"/>
            <a:ext cx="396530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TaughtZ value stored per run in database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backlog of values required. Identified as future work</a:t>
            </a:r>
            <a:endParaRPr lang="en-US" sz="16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334B48C-6CA8-EBF7-9FA1-7066161F7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123" y="3063372"/>
            <a:ext cx="7338349" cy="352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19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4B1E0-DCBE-2006-7BD3-864ECADF3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B7A8BE-F775-E875-7B87-FB6E3DEC4588}"/>
              </a:ext>
            </a:extLst>
          </p:cNvPr>
          <p:cNvSpPr/>
          <p:nvPr/>
        </p:nvSpPr>
        <p:spPr>
          <a:xfrm>
            <a:off x="0" y="-1"/>
            <a:ext cx="12192000" cy="8451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999AC2-2F50-EF31-FC35-51DB2FD3CB36}"/>
              </a:ext>
            </a:extLst>
          </p:cNvPr>
          <p:cNvSpPr/>
          <p:nvPr/>
        </p:nvSpPr>
        <p:spPr>
          <a:xfrm>
            <a:off x="2162464" y="376067"/>
            <a:ext cx="7867072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1B2A4A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Entity Relationship Diagram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85AB53F4-C507-766E-AEF0-275F0E850051}"/>
              </a:ext>
            </a:extLst>
          </p:cNvPr>
          <p:cNvSpPr/>
          <p:nvPr/>
        </p:nvSpPr>
        <p:spPr>
          <a:xfrm>
            <a:off x="0" y="6821424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23521D-8DE3-CE35-172B-8A578B2A6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77" y="1500448"/>
            <a:ext cx="7786255" cy="4517607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842FC434-86F2-B6D5-FFC5-21C28F8ABD62}"/>
              </a:ext>
            </a:extLst>
          </p:cNvPr>
          <p:cNvSpPr/>
          <p:nvPr/>
        </p:nvSpPr>
        <p:spPr>
          <a:xfrm>
            <a:off x="9313484" y="2149245"/>
            <a:ext cx="2215805" cy="62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>
                    <a:alpha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600" b="1" dirty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6B82D33-4FFB-F9C5-D212-49586DA2C6D2}"/>
              </a:ext>
            </a:extLst>
          </p:cNvPr>
          <p:cNvSpPr/>
          <p:nvPr/>
        </p:nvSpPr>
        <p:spPr>
          <a:xfrm>
            <a:off x="9313485" y="2542724"/>
            <a:ext cx="2215805" cy="62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alpha val="75000"/>
                  </a:schemeClr>
                </a:solidFill>
              </a:rPr>
              <a:t>Composite PK on LoadPorts</a:t>
            </a: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16B20BB7-301D-4E1A-9126-EC4BFEC62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250" y="2542724"/>
            <a:ext cx="228600" cy="22860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D4F2886D-59D1-9224-D45B-7A69F4635431}"/>
              </a:ext>
            </a:extLst>
          </p:cNvPr>
          <p:cNvSpPr/>
          <p:nvPr/>
        </p:nvSpPr>
        <p:spPr>
          <a:xfrm>
            <a:off x="9313485" y="2952614"/>
            <a:ext cx="2215805" cy="62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alpha val="75000"/>
                  </a:schemeClr>
                </a:solidFill>
              </a:rPr>
              <a:t>CEID Column – Distinguishes 2 ports vs 3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7158FBBB-9DE8-E540-93FB-C75A2B113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250" y="2952614"/>
            <a:ext cx="228600" cy="22860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8147751B-93BA-946F-2104-4D08ED1D77D1}"/>
              </a:ext>
            </a:extLst>
          </p:cNvPr>
          <p:cNvSpPr/>
          <p:nvPr/>
        </p:nvSpPr>
        <p:spPr>
          <a:xfrm>
            <a:off x="9313484" y="3472769"/>
            <a:ext cx="2215805" cy="62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alpha val="75000"/>
                  </a:schemeClr>
                </a:solidFill>
              </a:rPr>
              <a:t>TaughtZ value stored per run</a:t>
            </a: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BF25C8EF-2A6A-450F-233F-79DB010EF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249" y="347276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68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9057D-8676-0E36-8E15-AF89FC59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F7EE19-BBC4-8F1D-91E6-43D7B78E3242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A2A4A-6079-CDB6-2DC2-B6DE7CFADFFE}"/>
              </a:ext>
            </a:extLst>
          </p:cNvPr>
          <p:cNvSpPr/>
          <p:nvPr/>
        </p:nvSpPr>
        <p:spPr>
          <a:xfrm>
            <a:off x="975360" y="326136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kern="0" spc="533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achieved </a:t>
            </a:r>
            <a:endParaRPr lang="en-US" sz="4400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D07E27F7-EB63-459E-EA61-49A18884F09F}"/>
              </a:ext>
            </a:extLst>
          </p:cNvPr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F23845E6-4313-709A-BFF1-69B1B0E6D1CC}"/>
              </a:ext>
            </a:extLst>
          </p:cNvPr>
          <p:cNvSpPr/>
          <p:nvPr/>
        </p:nvSpPr>
        <p:spPr>
          <a:xfrm>
            <a:off x="353060" y="1765306"/>
            <a:ext cx="2621280" cy="2596134"/>
          </a:xfrm>
          <a:prstGeom prst="rect">
            <a:avLst/>
          </a:prstGeom>
          <a:solidFill>
            <a:srgbClr val="107C10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42DE2A25-D184-FB07-E868-F536587070B8}"/>
              </a:ext>
            </a:extLst>
          </p:cNvPr>
          <p:cNvSpPr/>
          <p:nvPr/>
        </p:nvSpPr>
        <p:spPr>
          <a:xfrm>
            <a:off x="353060" y="1856745"/>
            <a:ext cx="2621280" cy="129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5/5</a:t>
            </a:r>
            <a:endParaRPr lang="en-US" sz="36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FF25D23-FDE2-1320-FBC3-9E20CE1F5EA0}"/>
              </a:ext>
            </a:extLst>
          </p:cNvPr>
          <p:cNvSpPr/>
          <p:nvPr/>
        </p:nvSpPr>
        <p:spPr>
          <a:xfrm>
            <a:off x="353060" y="2893357"/>
            <a:ext cx="2621280" cy="100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254909CC-03D2-80B4-574F-18D2FB1C88D5}"/>
              </a:ext>
            </a:extLst>
          </p:cNvPr>
          <p:cNvSpPr/>
          <p:nvPr/>
        </p:nvSpPr>
        <p:spPr>
          <a:xfrm>
            <a:off x="3319780" y="1784101"/>
            <a:ext cx="2621280" cy="2596134"/>
          </a:xfrm>
          <a:prstGeom prst="rect">
            <a:avLst/>
          </a:prstGeom>
          <a:solidFill>
            <a:srgbClr val="00B4D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DA3711AE-C4EB-7CFC-EC10-883068905661}"/>
              </a:ext>
            </a:extLst>
          </p:cNvPr>
          <p:cNvSpPr/>
          <p:nvPr/>
        </p:nvSpPr>
        <p:spPr>
          <a:xfrm>
            <a:off x="3319780" y="1875540"/>
            <a:ext cx="2621280" cy="129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10,684</a:t>
            </a:r>
            <a:endParaRPr lang="en-US" sz="36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CDF7019-091B-F167-840F-26440BD53008}"/>
              </a:ext>
            </a:extLst>
          </p:cNvPr>
          <p:cNvSpPr/>
          <p:nvPr/>
        </p:nvSpPr>
        <p:spPr>
          <a:xfrm>
            <a:off x="3319780" y="2912152"/>
            <a:ext cx="2621280" cy="100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Processed</a:t>
            </a:r>
            <a:endParaRPr lang="en-US" sz="14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8B5C5D94-97C9-38A8-8360-719F2C84E170}"/>
              </a:ext>
            </a:extLst>
          </p:cNvPr>
          <p:cNvSpPr/>
          <p:nvPr/>
        </p:nvSpPr>
        <p:spPr>
          <a:xfrm>
            <a:off x="6286500" y="1778160"/>
            <a:ext cx="2621280" cy="2596134"/>
          </a:xfrm>
          <a:prstGeom prst="rect">
            <a:avLst/>
          </a:prstGeom>
          <a:solidFill>
            <a:srgbClr val="0078D4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FE7F95A-E3C1-26B5-F66F-820B4770F2A3}"/>
              </a:ext>
            </a:extLst>
          </p:cNvPr>
          <p:cNvSpPr/>
          <p:nvPr/>
        </p:nvSpPr>
        <p:spPr>
          <a:xfrm>
            <a:off x="6286500" y="1869599"/>
            <a:ext cx="2621280" cy="129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36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6D78BC4-3BF0-FBE8-443A-FF1874AAA1D9}"/>
              </a:ext>
            </a:extLst>
          </p:cNvPr>
          <p:cNvSpPr/>
          <p:nvPr/>
        </p:nvSpPr>
        <p:spPr>
          <a:xfrm>
            <a:off x="6286500" y="2906211"/>
            <a:ext cx="2621280" cy="100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4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02D42286-4DCE-AB92-5447-770F9B9DA88A}"/>
              </a:ext>
            </a:extLst>
          </p:cNvPr>
          <p:cNvSpPr/>
          <p:nvPr/>
        </p:nvSpPr>
        <p:spPr>
          <a:xfrm>
            <a:off x="9217660" y="1765306"/>
            <a:ext cx="2621280" cy="2596134"/>
          </a:xfrm>
          <a:prstGeom prst="rect">
            <a:avLst/>
          </a:prstGeom>
          <a:solidFill>
            <a:srgbClr val="5B8DB8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1F92D2EB-AC3D-48B5-A890-F491F08D378D}"/>
              </a:ext>
            </a:extLst>
          </p:cNvPr>
          <p:cNvSpPr/>
          <p:nvPr/>
        </p:nvSpPr>
        <p:spPr>
          <a:xfrm>
            <a:off x="9217660" y="1856745"/>
            <a:ext cx="2621280" cy="1298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&lt;12m</a:t>
            </a:r>
            <a:endParaRPr lang="en-US" sz="36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9C5E604D-326F-7ED2-1D9D-47A1D8C5D8CE}"/>
              </a:ext>
            </a:extLst>
          </p:cNvPr>
          <p:cNvSpPr/>
          <p:nvPr/>
        </p:nvSpPr>
        <p:spPr>
          <a:xfrm>
            <a:off x="9217660" y="2893357"/>
            <a:ext cx="2621280" cy="100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Fleet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/ upload</a:t>
            </a:r>
            <a:endParaRPr lang="en-US" sz="1400" dirty="0"/>
          </a:p>
        </p:txBody>
      </p:sp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2FE6F432-5966-B64E-D9BD-2B7ABC83D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4591177"/>
            <a:ext cx="228600" cy="228600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560C87B2-644F-4116-A865-15B1C80D0E2C}"/>
              </a:ext>
            </a:extLst>
          </p:cNvPr>
          <p:cNvSpPr/>
          <p:nvPr/>
        </p:nvSpPr>
        <p:spPr>
          <a:xfrm>
            <a:off x="1341120" y="457288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classification corrected sensor misclassification</a:t>
            </a:r>
            <a:endParaRPr lang="en-US" sz="1600" dirty="0"/>
          </a:p>
        </p:txBody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7FF266C2-EBD4-DC83-BD20-5734AB7DA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4956937"/>
            <a:ext cx="228600" cy="228600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99FF3833-E8BB-FE91-49EA-B57F67F7CBA7}"/>
              </a:ext>
            </a:extLst>
          </p:cNvPr>
          <p:cNvSpPr/>
          <p:nvPr/>
        </p:nvSpPr>
        <p:spPr>
          <a:xfrm>
            <a:off x="1341120" y="493864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CSB201 failures from 335 to 6 genuine failures</a:t>
            </a:r>
            <a:endParaRPr lang="en-US" sz="1600" dirty="0"/>
          </a:p>
        </p:txBody>
      </p:sp>
      <p:pic>
        <p:nvPicPr>
          <p:cNvPr id="46" name="Image 2" descr="preencoded.png">
            <a:extLst>
              <a:ext uri="{FF2B5EF4-FFF2-40B4-BE49-F238E27FC236}">
                <a16:creationId xmlns:a16="http://schemas.microsoft.com/office/drawing/2014/main" id="{9C7320D9-8082-A503-BF8F-1AD353E43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5322697"/>
            <a:ext cx="228600" cy="228600"/>
          </a:xfrm>
          <a:prstGeom prst="rect">
            <a:avLst/>
          </a:prstGeom>
        </p:spPr>
      </p:pic>
      <p:sp>
        <p:nvSpPr>
          <p:cNvPr id="47" name="Text 16">
            <a:extLst>
              <a:ext uri="{FF2B5EF4-FFF2-40B4-BE49-F238E27FC236}">
                <a16:creationId xmlns:a16="http://schemas.microsoft.com/office/drawing/2014/main" id="{D49AA85B-C9D0-DB68-A9FB-D4D3904986C0}"/>
              </a:ext>
            </a:extLst>
          </p:cNvPr>
          <p:cNvSpPr/>
          <p:nvPr/>
        </p:nvSpPr>
        <p:spPr>
          <a:xfrm>
            <a:off x="1341120" y="530440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270,100 individual slot measurements stored in SQL Server</a:t>
            </a:r>
            <a:endParaRPr lang="en-US" sz="1600" dirty="0"/>
          </a:p>
        </p:txBody>
      </p:sp>
      <p:pic>
        <p:nvPicPr>
          <p:cNvPr id="48" name="Image 3" descr="preencoded.png">
            <a:extLst>
              <a:ext uri="{FF2B5EF4-FFF2-40B4-BE49-F238E27FC236}">
                <a16:creationId xmlns:a16="http://schemas.microsoft.com/office/drawing/2014/main" id="{582D29F7-AEB6-AC9C-0FE2-215884F15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5688457"/>
            <a:ext cx="228600" cy="228600"/>
          </a:xfrm>
          <a:prstGeom prst="rect">
            <a:avLst/>
          </a:prstGeom>
        </p:spPr>
      </p:pic>
      <p:sp>
        <p:nvSpPr>
          <p:cNvPr id="49" name="Text 17">
            <a:extLst>
              <a:ext uri="{FF2B5EF4-FFF2-40B4-BE49-F238E27FC236}">
                <a16:creationId xmlns:a16="http://schemas.microsoft.com/office/drawing/2014/main" id="{8EDFD28F-CAFD-E1AA-8CD6-05931D0ABAC1}"/>
              </a:ext>
            </a:extLst>
          </p:cNvPr>
          <p:cNvSpPr/>
          <p:nvPr/>
        </p:nvSpPr>
        <p:spPr>
          <a:xfrm>
            <a:off x="1341120" y="567016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Power BI Service — accessible to any engineer with the link</a:t>
            </a:r>
            <a:endParaRPr lang="en-US" sz="1600" dirty="0"/>
          </a:p>
        </p:txBody>
      </p:sp>
      <p:pic>
        <p:nvPicPr>
          <p:cNvPr id="50" name="Image 4" descr="preencoded.png">
            <a:extLst>
              <a:ext uri="{FF2B5EF4-FFF2-40B4-BE49-F238E27FC236}">
                <a16:creationId xmlns:a16="http://schemas.microsoft.com/office/drawing/2014/main" id="{40A1E58D-F4E7-2572-2D12-EAF2138E4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6054217"/>
            <a:ext cx="228600" cy="228600"/>
          </a:xfrm>
          <a:prstGeom prst="rect">
            <a:avLst/>
          </a:prstGeom>
        </p:spPr>
      </p:pic>
      <p:sp>
        <p:nvSpPr>
          <p:cNvPr id="51" name="Text 18">
            <a:extLst>
              <a:ext uri="{FF2B5EF4-FFF2-40B4-BE49-F238E27FC236}">
                <a16:creationId xmlns:a16="http://schemas.microsoft.com/office/drawing/2014/main" id="{31EB8FA4-87E2-D192-24BD-69CEE30B33AA}"/>
              </a:ext>
            </a:extLst>
          </p:cNvPr>
          <p:cNvSpPr/>
          <p:nvPr/>
        </p:nvSpPr>
        <p:spPr>
          <a:xfrm>
            <a:off x="1341120" y="603592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0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multistep per-tool process replaced with 2 commands for the entire fleet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688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F5616-8ED1-2F65-97F0-99413BA5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B813D8-6DF3-6489-525B-B96ADE8EA938}"/>
              </a:ext>
            </a:extLst>
          </p:cNvPr>
          <p:cNvSpPr/>
          <p:nvPr/>
        </p:nvSpPr>
        <p:spPr>
          <a:xfrm>
            <a:off x="0" y="-1"/>
            <a:ext cx="12192000" cy="8451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B0637D-7258-67E4-54AF-C9379C71049D}"/>
              </a:ext>
            </a:extLst>
          </p:cNvPr>
          <p:cNvSpPr/>
          <p:nvPr/>
        </p:nvSpPr>
        <p:spPr>
          <a:xfrm>
            <a:off x="975360" y="3657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1B2A4A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62" name="Shape 0">
            <a:extLst>
              <a:ext uri="{FF2B5EF4-FFF2-40B4-BE49-F238E27FC236}">
                <a16:creationId xmlns:a16="http://schemas.microsoft.com/office/drawing/2014/main" id="{D6C54910-FEA4-374E-CC7C-48B59B135A99}"/>
              </a:ext>
            </a:extLst>
          </p:cNvPr>
          <p:cNvSpPr/>
          <p:nvPr/>
        </p:nvSpPr>
        <p:spPr>
          <a:xfrm>
            <a:off x="0" y="6821424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68" name="Shape 2">
            <a:extLst>
              <a:ext uri="{FF2B5EF4-FFF2-40B4-BE49-F238E27FC236}">
                <a16:creationId xmlns:a16="http://schemas.microsoft.com/office/drawing/2014/main" id="{29C904FC-9F9B-7B23-C46C-55CD8D25C5B1}"/>
              </a:ext>
            </a:extLst>
          </p:cNvPr>
          <p:cNvSpPr/>
          <p:nvPr/>
        </p:nvSpPr>
        <p:spPr>
          <a:xfrm>
            <a:off x="975360" y="1584960"/>
            <a:ext cx="10241280" cy="79248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EC38FADA-C852-27FE-F604-FF272449C527}"/>
              </a:ext>
            </a:extLst>
          </p:cNvPr>
          <p:cNvSpPr/>
          <p:nvPr/>
        </p:nvSpPr>
        <p:spPr>
          <a:xfrm>
            <a:off x="975360" y="1584960"/>
            <a:ext cx="73152" cy="792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55C39902-4220-3960-9FB4-D38E83DBFCDD}"/>
              </a:ext>
            </a:extLst>
          </p:cNvPr>
          <p:cNvSpPr/>
          <p:nvPr/>
        </p:nvSpPr>
        <p:spPr>
          <a:xfrm>
            <a:off x="5479011" y="1577505"/>
            <a:ext cx="5371869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Script(s) run on a schedule – No manual execution</a:t>
            </a:r>
            <a:endParaRPr lang="en-US" sz="1867" dirty="0"/>
          </a:p>
        </p:txBody>
      </p:sp>
      <p:sp>
        <p:nvSpPr>
          <p:cNvPr id="72" name="Shape 5">
            <a:extLst>
              <a:ext uri="{FF2B5EF4-FFF2-40B4-BE49-F238E27FC236}">
                <a16:creationId xmlns:a16="http://schemas.microsoft.com/office/drawing/2014/main" id="{AB09EC0C-6164-A66F-3DE7-274B43651625}"/>
              </a:ext>
            </a:extLst>
          </p:cNvPr>
          <p:cNvSpPr/>
          <p:nvPr/>
        </p:nvSpPr>
        <p:spPr>
          <a:xfrm>
            <a:off x="975360" y="2535936"/>
            <a:ext cx="10241280" cy="79248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1C9531CD-8D1C-2551-4197-1FB656C897FC}"/>
              </a:ext>
            </a:extLst>
          </p:cNvPr>
          <p:cNvSpPr/>
          <p:nvPr/>
        </p:nvSpPr>
        <p:spPr>
          <a:xfrm>
            <a:off x="975360" y="2535936"/>
            <a:ext cx="73152" cy="792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1C6EF5B6-E0AD-2DBF-2EBB-EA5FCB7087A0}"/>
              </a:ext>
            </a:extLst>
          </p:cNvPr>
          <p:cNvSpPr/>
          <p:nvPr/>
        </p:nvSpPr>
        <p:spPr>
          <a:xfrm>
            <a:off x="5479011" y="2528481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on the tool network – 2 step into 1 step process</a:t>
            </a:r>
            <a:endParaRPr lang="en-US" sz="1867" dirty="0"/>
          </a:p>
        </p:txBody>
      </p:sp>
      <p:sp>
        <p:nvSpPr>
          <p:cNvPr id="76" name="Shape 8">
            <a:extLst>
              <a:ext uri="{FF2B5EF4-FFF2-40B4-BE49-F238E27FC236}">
                <a16:creationId xmlns:a16="http://schemas.microsoft.com/office/drawing/2014/main" id="{A09480F9-8D13-6E57-05C2-28E42F6D5EB7}"/>
              </a:ext>
            </a:extLst>
          </p:cNvPr>
          <p:cNvSpPr/>
          <p:nvPr/>
        </p:nvSpPr>
        <p:spPr>
          <a:xfrm>
            <a:off x="975360" y="3486912"/>
            <a:ext cx="10241280" cy="79248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758D6DC7-A069-21BC-6BA3-7360F86AAED9}"/>
              </a:ext>
            </a:extLst>
          </p:cNvPr>
          <p:cNvSpPr/>
          <p:nvPr/>
        </p:nvSpPr>
        <p:spPr>
          <a:xfrm>
            <a:off x="975360" y="3486912"/>
            <a:ext cx="73152" cy="792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79" name="Text 10">
            <a:extLst>
              <a:ext uri="{FF2B5EF4-FFF2-40B4-BE49-F238E27FC236}">
                <a16:creationId xmlns:a16="http://schemas.microsoft.com/office/drawing/2014/main" id="{5969040F-65D7-38B3-95DB-4764B0BB6850}"/>
              </a:ext>
            </a:extLst>
          </p:cNvPr>
          <p:cNvSpPr/>
          <p:nvPr/>
        </p:nvSpPr>
        <p:spPr>
          <a:xfrm>
            <a:off x="5479011" y="3479457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of TaughtZ values to resolve false fails</a:t>
            </a:r>
            <a:endParaRPr lang="en-US" sz="1867" dirty="0"/>
          </a:p>
        </p:txBody>
      </p:sp>
      <p:sp>
        <p:nvSpPr>
          <p:cNvPr id="80" name="Shape 11">
            <a:extLst>
              <a:ext uri="{FF2B5EF4-FFF2-40B4-BE49-F238E27FC236}">
                <a16:creationId xmlns:a16="http://schemas.microsoft.com/office/drawing/2014/main" id="{CB17B5D5-4435-304E-16E7-282A4FC60C77}"/>
              </a:ext>
            </a:extLst>
          </p:cNvPr>
          <p:cNvSpPr/>
          <p:nvPr/>
        </p:nvSpPr>
        <p:spPr>
          <a:xfrm>
            <a:off x="975360" y="4437888"/>
            <a:ext cx="10241280" cy="79248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32843496-168C-F708-8B5B-B2E2739C410B}"/>
              </a:ext>
            </a:extLst>
          </p:cNvPr>
          <p:cNvSpPr/>
          <p:nvPr/>
        </p:nvSpPr>
        <p:spPr>
          <a:xfrm>
            <a:off x="975360" y="4437888"/>
            <a:ext cx="73152" cy="792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88" name="Text 13">
            <a:extLst>
              <a:ext uri="{FF2B5EF4-FFF2-40B4-BE49-F238E27FC236}">
                <a16:creationId xmlns:a16="http://schemas.microsoft.com/office/drawing/2014/main" id="{4A4913B3-E31E-8656-F18A-0FAC55DE97E0}"/>
              </a:ext>
            </a:extLst>
          </p:cNvPr>
          <p:cNvSpPr/>
          <p:nvPr/>
        </p:nvSpPr>
        <p:spPr>
          <a:xfrm>
            <a:off x="5479011" y="4430433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when values over warning threshold</a:t>
            </a:r>
            <a:endParaRPr lang="en-US" sz="1867" dirty="0"/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B22522F3-76E5-93F2-6C70-AD4B72534E23}"/>
              </a:ext>
            </a:extLst>
          </p:cNvPr>
          <p:cNvSpPr/>
          <p:nvPr/>
        </p:nvSpPr>
        <p:spPr>
          <a:xfrm>
            <a:off x="975360" y="5388864"/>
            <a:ext cx="10241280" cy="792480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E" sz="2400"/>
          </a:p>
        </p:txBody>
      </p:sp>
      <p:sp>
        <p:nvSpPr>
          <p:cNvPr id="90" name="Shape 15">
            <a:extLst>
              <a:ext uri="{FF2B5EF4-FFF2-40B4-BE49-F238E27FC236}">
                <a16:creationId xmlns:a16="http://schemas.microsoft.com/office/drawing/2014/main" id="{68A8DB38-72E2-9562-58CE-847BC84AB767}"/>
              </a:ext>
            </a:extLst>
          </p:cNvPr>
          <p:cNvSpPr/>
          <p:nvPr/>
        </p:nvSpPr>
        <p:spPr>
          <a:xfrm>
            <a:off x="975360" y="5388864"/>
            <a:ext cx="73152" cy="7924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C1EB3E53-5D39-CA82-FCF8-971FE494D040}"/>
              </a:ext>
            </a:extLst>
          </p:cNvPr>
          <p:cNvSpPr/>
          <p:nvPr/>
        </p:nvSpPr>
        <p:spPr>
          <a:xfrm>
            <a:off x="5479011" y="5381409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APAVS system – additional tool sets </a:t>
            </a:r>
            <a:endParaRPr lang="en-US" sz="1867" dirty="0"/>
          </a:p>
        </p:txBody>
      </p:sp>
      <p:sp>
        <p:nvSpPr>
          <p:cNvPr id="111" name="Text 4">
            <a:extLst>
              <a:ext uri="{FF2B5EF4-FFF2-40B4-BE49-F238E27FC236}">
                <a16:creationId xmlns:a16="http://schemas.microsoft.com/office/drawing/2014/main" id="{CF405FEC-50FE-260F-674C-4C83127FCA8F}"/>
              </a:ext>
            </a:extLst>
          </p:cNvPr>
          <p:cNvSpPr/>
          <p:nvPr/>
        </p:nvSpPr>
        <p:spPr>
          <a:xfrm>
            <a:off x="2012788" y="1570050"/>
            <a:ext cx="5371869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</a:t>
            </a:r>
            <a:endParaRPr lang="en-US" sz="1900" b="1" dirty="0"/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7678D77B-7331-538C-CAD1-3ECCA5858CEB}"/>
              </a:ext>
            </a:extLst>
          </p:cNvPr>
          <p:cNvSpPr/>
          <p:nvPr/>
        </p:nvSpPr>
        <p:spPr>
          <a:xfrm>
            <a:off x="1959697" y="2530696"/>
            <a:ext cx="5371869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Database</a:t>
            </a:r>
            <a:endParaRPr lang="en-US" sz="1900" b="1" dirty="0"/>
          </a:p>
        </p:txBody>
      </p:sp>
      <p:sp>
        <p:nvSpPr>
          <p:cNvPr id="113" name="Text 4">
            <a:extLst>
              <a:ext uri="{FF2B5EF4-FFF2-40B4-BE49-F238E27FC236}">
                <a16:creationId xmlns:a16="http://schemas.microsoft.com/office/drawing/2014/main" id="{703A6B6A-1294-050C-CB9D-6C25FDE8558B}"/>
              </a:ext>
            </a:extLst>
          </p:cNvPr>
          <p:cNvSpPr/>
          <p:nvPr/>
        </p:nvSpPr>
        <p:spPr>
          <a:xfrm>
            <a:off x="1959696" y="3500526"/>
            <a:ext cx="5371869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TaughtZ Value</a:t>
            </a:r>
            <a:endParaRPr lang="en-US" sz="1900" b="1" dirty="0"/>
          </a:p>
        </p:txBody>
      </p:sp>
      <p:sp>
        <p:nvSpPr>
          <p:cNvPr id="114" name="Text 4">
            <a:extLst>
              <a:ext uri="{FF2B5EF4-FFF2-40B4-BE49-F238E27FC236}">
                <a16:creationId xmlns:a16="http://schemas.microsoft.com/office/drawing/2014/main" id="{85497128-67E3-6E80-84E1-C395EA208414}"/>
              </a:ext>
            </a:extLst>
          </p:cNvPr>
          <p:cNvSpPr/>
          <p:nvPr/>
        </p:nvSpPr>
        <p:spPr>
          <a:xfrm>
            <a:off x="1959695" y="4436592"/>
            <a:ext cx="5371869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Alerting</a:t>
            </a:r>
            <a:endParaRPr lang="en-US" sz="1900" b="1" dirty="0"/>
          </a:p>
        </p:txBody>
      </p:sp>
      <p:sp>
        <p:nvSpPr>
          <p:cNvPr id="115" name="Text 4">
            <a:extLst>
              <a:ext uri="{FF2B5EF4-FFF2-40B4-BE49-F238E27FC236}">
                <a16:creationId xmlns:a16="http://schemas.microsoft.com/office/drawing/2014/main" id="{7CAB7CE5-1F97-7FE6-F088-F5C231BD953B}"/>
              </a:ext>
            </a:extLst>
          </p:cNvPr>
          <p:cNvSpPr/>
          <p:nvPr/>
        </p:nvSpPr>
        <p:spPr>
          <a:xfrm>
            <a:off x="1959694" y="5386272"/>
            <a:ext cx="5371869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Expansion</a:t>
            </a:r>
            <a:endParaRPr lang="en-US" sz="1900" b="1" dirty="0"/>
          </a:p>
        </p:txBody>
      </p:sp>
      <p:pic>
        <p:nvPicPr>
          <p:cNvPr id="127" name="Image 0" descr="preencoded.png">
            <a:extLst>
              <a:ext uri="{FF2B5EF4-FFF2-40B4-BE49-F238E27FC236}">
                <a16:creationId xmlns:a16="http://schemas.microsoft.com/office/drawing/2014/main" id="{36086600-618E-8829-BB26-62F7188A4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888" y="1764392"/>
            <a:ext cx="445275" cy="445275"/>
          </a:xfrm>
          <a:prstGeom prst="rect">
            <a:avLst/>
          </a:prstGeom>
        </p:spPr>
      </p:pic>
      <p:pic>
        <p:nvPicPr>
          <p:cNvPr id="129" name="Image 1" descr="preencoded.png">
            <a:extLst>
              <a:ext uri="{FF2B5EF4-FFF2-40B4-BE49-F238E27FC236}">
                <a16:creationId xmlns:a16="http://schemas.microsoft.com/office/drawing/2014/main" id="{97EDC87E-BF18-445B-FF19-6384F7C82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887" y="2702083"/>
            <a:ext cx="445275" cy="445275"/>
          </a:xfrm>
          <a:prstGeom prst="rect">
            <a:avLst/>
          </a:prstGeom>
        </p:spPr>
      </p:pic>
      <p:pic>
        <p:nvPicPr>
          <p:cNvPr id="131" name="Image 2" descr="preencoded.png">
            <a:extLst>
              <a:ext uri="{FF2B5EF4-FFF2-40B4-BE49-F238E27FC236}">
                <a16:creationId xmlns:a16="http://schemas.microsoft.com/office/drawing/2014/main" id="{D86B6753-9BA8-2774-15D0-26405F89F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886" y="3668845"/>
            <a:ext cx="445275" cy="445275"/>
          </a:xfrm>
          <a:prstGeom prst="rect">
            <a:avLst/>
          </a:prstGeom>
        </p:spPr>
      </p:pic>
      <p:pic>
        <p:nvPicPr>
          <p:cNvPr id="133" name="Image 3" descr="preencoded.png">
            <a:extLst>
              <a:ext uri="{FF2B5EF4-FFF2-40B4-BE49-F238E27FC236}">
                <a16:creationId xmlns:a16="http://schemas.microsoft.com/office/drawing/2014/main" id="{AD19EB8C-B890-DEE1-55A8-4FB80A6DF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367" y="4611490"/>
            <a:ext cx="445275" cy="445275"/>
          </a:xfrm>
          <a:prstGeom prst="rect">
            <a:avLst/>
          </a:prstGeom>
        </p:spPr>
      </p:pic>
      <p:pic>
        <p:nvPicPr>
          <p:cNvPr id="135" name="Image 4" descr="preencoded.png">
            <a:extLst>
              <a:ext uri="{FF2B5EF4-FFF2-40B4-BE49-F238E27FC236}">
                <a16:creationId xmlns:a16="http://schemas.microsoft.com/office/drawing/2014/main" id="{12927F4E-7A6A-34C8-15DA-5A7DB5377E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885" y="5555011"/>
            <a:ext cx="445275" cy="44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14203-CF23-0755-F089-2EE69084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3955DB-6500-6A53-AABA-EB8152F02DCF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F1B49D11-CEE2-710E-4140-FD00E6041696}"/>
              </a:ext>
            </a:extLst>
          </p:cNvPr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40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02B76340-44CA-1F85-780F-299A343AD9AB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E813E71-65DD-1726-3797-2335E23439D4}"/>
              </a:ext>
            </a:extLst>
          </p:cNvPr>
          <p:cNvSpPr/>
          <p:nvPr/>
        </p:nvSpPr>
        <p:spPr>
          <a:xfrm>
            <a:off x="2438400" y="1437894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E17DFB0-5B4B-0B48-BD4A-4F3900D7E74C}"/>
              </a:ext>
            </a:extLst>
          </p:cNvPr>
          <p:cNvSpPr/>
          <p:nvPr/>
        </p:nvSpPr>
        <p:spPr>
          <a:xfrm>
            <a:off x="4470400" y="2321814"/>
            <a:ext cx="3149600" cy="60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E" sz="2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F64EA49-AC3A-ECA0-9704-953D916C836F}"/>
              </a:ext>
            </a:extLst>
          </p:cNvPr>
          <p:cNvSpPr/>
          <p:nvPr/>
        </p:nvSpPr>
        <p:spPr>
          <a:xfrm>
            <a:off x="2365829" y="2699766"/>
            <a:ext cx="7242629" cy="702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AFA5F07-2D7F-4B15-3D99-1902B6BB2FB8}"/>
              </a:ext>
            </a:extLst>
          </p:cNvPr>
          <p:cNvSpPr/>
          <p:nvPr/>
        </p:nvSpPr>
        <p:spPr>
          <a:xfrm>
            <a:off x="2823029" y="3614166"/>
            <a:ext cx="6337300" cy="1805940"/>
          </a:xfrm>
          <a:prstGeom prst="rect">
            <a:avLst/>
          </a:prstGeom>
          <a:solidFill>
            <a:srgbClr val="2D4A7A">
              <a:alpha val="77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630DB8D-333C-0DC3-0B3A-D7732E0D7A51}"/>
              </a:ext>
            </a:extLst>
          </p:cNvPr>
          <p:cNvSpPr/>
          <p:nvPr/>
        </p:nvSpPr>
        <p:spPr>
          <a:xfrm>
            <a:off x="2823029" y="3614166"/>
            <a:ext cx="633730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Byrne  |  20108898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HDip Computer Science  |  SETU Waterford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github.com/VincentByrne/APAVS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Sonya Hogan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2779472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4079</TotalTime>
  <Words>537</Words>
  <Application>Microsoft Office PowerPoint</Application>
  <PresentationFormat>Widescreen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Amasis MT Pro Black</vt:lpstr>
      <vt:lpstr>Aptos</vt:lpstr>
      <vt:lpstr>Arial</vt:lpstr>
      <vt:lpstr>Arial Black</vt:lpstr>
      <vt:lpstr>Calibri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(20108898) Vincent Byrne</dc:creator>
  <cp:lastModifiedBy>(20108898) Vincent Byrne</cp:lastModifiedBy>
  <cp:revision>13</cp:revision>
  <dcterms:created xsi:type="dcterms:W3CDTF">2026-04-10T01:52:44Z</dcterms:created>
  <dcterms:modified xsi:type="dcterms:W3CDTF">2026-04-12T21:53:19Z</dcterms:modified>
</cp:coreProperties>
</file>